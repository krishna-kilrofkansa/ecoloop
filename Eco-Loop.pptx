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391A3"/>
    <a:srgbClr val="BFCEDF"/>
    <a:srgbClr val="E1EA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58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treamlit.io/" TargetMode="External"/><Relationship Id="rId3" Type="http://schemas.openxmlformats.org/officeDocument/2006/relationships/hyperlink" Target="https://energyplus.net/" TargetMode="External"/><Relationship Id="rId7" Type="http://schemas.openxmlformats.org/officeDocument/2006/relationships/hyperlink" Target="https://github.com/BerriAI/litell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odelcontextprotocol.io/" TargetMode="External"/><Relationship Id="rId5" Type="http://schemas.openxmlformats.org/officeDocument/2006/relationships/hyperlink" Target="https://ollama.com/" TargetMode="External"/><Relationship Id="rId4" Type="http://schemas.openxmlformats.org/officeDocument/2006/relationships/hyperlink" Target="https://ai.google.dev/gemma" TargetMode="Externa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4929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Eco-Loop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161739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Autonomous Building Energy Optimization with AI Agents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21396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buildings from passive energy consumers into self-correcting, carbon-aware autonomous systems</a:t>
            </a:r>
            <a:endParaRPr lang="en-US" sz="14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FA103-1F88-FEAD-4690-82DDC3E284E7}"/>
              </a:ext>
            </a:extLst>
          </p:cNvPr>
          <p:cNvSpPr txBox="1"/>
          <p:nvPr/>
        </p:nvSpPr>
        <p:spPr>
          <a:xfrm>
            <a:off x="727788" y="6018555"/>
            <a:ext cx="686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Student ID 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23BAI1584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A45B8-9E0D-7840-1FDA-CE263325AB79}"/>
              </a:ext>
            </a:extLst>
          </p:cNvPr>
          <p:cNvSpPr txBox="1"/>
          <p:nvPr/>
        </p:nvSpPr>
        <p:spPr>
          <a:xfrm>
            <a:off x="727788" y="5564035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Student Name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Aakarshak Swaraj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DDFDFF-3549-CD39-7140-AB5106B2472A}"/>
              </a:ext>
            </a:extLst>
          </p:cNvPr>
          <p:cNvSpPr txBox="1"/>
          <p:nvPr/>
        </p:nvSpPr>
        <p:spPr>
          <a:xfrm>
            <a:off x="727788" y="2773087"/>
            <a:ext cx="4031823" cy="56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1A</a:t>
            </a: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345EDF-C87B-BD42-7DF0-5490DE53E71B}"/>
              </a:ext>
            </a:extLst>
          </p:cNvPr>
          <p:cNvSpPr txBox="1"/>
          <p:nvPr/>
        </p:nvSpPr>
        <p:spPr>
          <a:xfrm>
            <a:off x="727788" y="3418685"/>
            <a:ext cx="9367934" cy="56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i="1" dirty="0"/>
              <a:t> Eco-Loop Building Agents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B9393-D1B9-92F8-0AC3-30E4A3B128F5}"/>
              </a:ext>
            </a:extLst>
          </p:cNvPr>
          <p:cNvSpPr txBox="1"/>
          <p:nvPr/>
        </p:nvSpPr>
        <p:spPr>
          <a:xfrm>
            <a:off x="727788" y="4070823"/>
            <a:ext cx="9367934" cy="56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D980A8-3A58-C37F-DC81-F80DFD0F3652}"/>
              </a:ext>
            </a:extLst>
          </p:cNvPr>
          <p:cNvSpPr txBox="1"/>
          <p:nvPr/>
        </p:nvSpPr>
        <p:spPr>
          <a:xfrm>
            <a:off x="727788" y="4638232"/>
            <a:ext cx="9367934" cy="56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Autonomous Building Energy Optimization with AI Agents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B6C0AF-9FA5-83FD-1740-5921CAA79258}"/>
              </a:ext>
            </a:extLst>
          </p:cNvPr>
          <p:cNvSpPr/>
          <p:nvPr/>
        </p:nvSpPr>
        <p:spPr>
          <a:xfrm>
            <a:off x="11056776" y="6494106"/>
            <a:ext cx="1135224" cy="363894"/>
          </a:xfrm>
          <a:prstGeom prst="rect">
            <a:avLst/>
          </a:prstGeom>
          <a:solidFill>
            <a:srgbClr val="E1EAF4"/>
          </a:solidFill>
          <a:ln>
            <a:solidFill>
              <a:srgbClr val="8391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721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Solution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544538"/>
            <a:ext cx="1230579" cy="273645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69521" y="1598513"/>
            <a:ext cx="1624071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011362"/>
            <a:ext cx="5214609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Buildings consume ~40% of global energy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BMS: rigid, rule-based schedules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adaptation to weather, occupancy, or grid signals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energy waste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1961" y="1544538"/>
            <a:ext cx="1756227" cy="273645"/>
          </a:xfrm>
          <a:prstGeom prst="roundRect">
            <a:avLst>
              <a:gd name="adj" fmla="val 2212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30008" y="1598513"/>
            <a:ext cx="214971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ECO-LOOP 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21961" y="2011362"/>
            <a:ext cx="5214609" cy="1929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closed-loop HVAC optimization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Gemma 4 E2B LLM as cognitive engine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Physics-based simulation + intelligent decision-making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 (MCP) for standardized integration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Multi-layer safety interlocks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4238526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4502051"/>
            <a:ext cx="1425936" cy="273645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9521" y="4556026"/>
            <a:ext cx="1819428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INNOVATION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68875"/>
            <a:ext cx="3508486" cy="13584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8549" y="5174357"/>
            <a:ext cx="299593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Autonomy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68549" y="5558830"/>
            <a:ext cx="2995934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Reasons about tradeoffs, not fixed rules.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605" y="4968875"/>
            <a:ext cx="3508486" cy="13584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8679" y="5174357"/>
            <a:ext cx="299593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source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4648679" y="5558830"/>
            <a:ext cx="299593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Minimizes vendor lock-in.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734" y="4968875"/>
            <a:ext cx="3508486" cy="13584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8809" y="5174357"/>
            <a:ext cx="299593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Edge-ready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328809" y="5558830"/>
            <a:ext cx="299593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on a single 8GB machine.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126179-E3F5-A239-EB34-A26BB3552C2A}"/>
              </a:ext>
            </a:extLst>
          </p:cNvPr>
          <p:cNvSpPr/>
          <p:nvPr/>
        </p:nvSpPr>
        <p:spPr>
          <a:xfrm>
            <a:off x="11056776" y="6502322"/>
            <a:ext cx="1135224" cy="36389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28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Approach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30251"/>
            <a:ext cx="521828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661475" y="2160091"/>
            <a:ext cx="5218280" cy="3949700"/>
          </a:xfrm>
          <a:prstGeom prst="roundRect">
            <a:avLst>
              <a:gd name="adj" fmla="val 188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2656185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3149104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3642023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4134941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4627860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5120779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1475" y="5613698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50077" y="2160091"/>
            <a:ext cx="11075" cy="3949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5124" y="2272407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30452" y="2272407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5124" y="2765326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Engine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30452" y="2765326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Gemma 4 E2B (5.1B params)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5124" y="3258245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Runtime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30452" y="3258245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 (local inference)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5124" y="3751163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30452" y="3751163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EnergyPlus + Python Surrogate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5124" y="4244082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Protocol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930452" y="4244082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 (MCP)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5124" y="4737001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930452" y="4737001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3.11, LiteLLM, Pydantic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5124" y="5229920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930452" y="5229920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+ Plotly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5124" y="5722838"/>
            <a:ext cx="2334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930452" y="5722838"/>
            <a:ext cx="337533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4-Layer SafetyInterlock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18290" y="1530251"/>
            <a:ext cx="521828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Decision Flow</a:t>
            </a:r>
            <a:endParaRPr lang="en-US" sz="2750" dirty="0"/>
          </a:p>
        </p:txBody>
      </p:sp>
      <p:sp>
        <p:nvSpPr>
          <p:cNvPr id="30" name="Text 28"/>
          <p:cNvSpPr/>
          <p:nvPr/>
        </p:nvSpPr>
        <p:spPr>
          <a:xfrm>
            <a:off x="6318290" y="2139355"/>
            <a:ext cx="5218280" cy="2213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Engine → Shared State (TelemetrySnapshot)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State → EcoLoopAgent (context)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EcoLoopAgent → Gemma 4 E2B (System Prompt + Telemetry)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Gemma 4 E2B → EcoLoopAgent (JSON response)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EcoLoopAgent → Safety Interlock (validation)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Interlock → HVAC System (validated command)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18290" y="4539357"/>
            <a:ext cx="5218280" cy="936625"/>
          </a:xfrm>
          <a:prstGeom prst="roundRect">
            <a:avLst>
              <a:gd name="adj" fmla="val 794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491" y="4802584"/>
            <a:ext cx="221451" cy="17720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894142" y="4733032"/>
            <a:ext cx="4465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decision-making with physics-grounded safety ensures optimal, safe HVAC control.</a:t>
            </a:r>
            <a:endParaRPr lang="en-US" sz="13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1A0572-0810-6D38-DB39-9C84A97FE4DE}"/>
              </a:ext>
            </a:extLst>
          </p:cNvPr>
          <p:cNvSpPr/>
          <p:nvPr/>
        </p:nvSpPr>
        <p:spPr>
          <a:xfrm>
            <a:off x="11056776" y="6502322"/>
            <a:ext cx="1135224" cy="36389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35747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60224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51379" y="3453074"/>
            <a:ext cx="2295095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Eco-Loop AI Agent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51379" y="3838713"/>
            <a:ext cx="2295095" cy="54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Simulation, Gemma 4 E2B LLM, safety, shared state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04696" y="3639221"/>
            <a:ext cx="2401844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 Signals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81935" y="4024861"/>
            <a:ext cx="2647365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tariffs, carbon, and weather inputs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67142" y="5176439"/>
            <a:ext cx="2401843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44381" y="5562079"/>
            <a:ext cx="2647365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and MCP server for insights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15833" y="1600272"/>
            <a:ext cx="2502254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Building Environment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43277" y="1985911"/>
            <a:ext cx="2647365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and HVAC system feeding data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701800"/>
            <a:ext cx="11160411" cy="360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Eco-Loop system integrates 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sensor data, weather forecasts, and grid signals to drive intelligent HVAC optimization through a closed-loop feedback mechanism.</a:t>
            </a:r>
            <a:endParaRPr lang="en-US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B98CDF-0ABB-6836-38C7-53FBC178378A}"/>
              </a:ext>
            </a:extLst>
          </p:cNvPr>
          <p:cNvSpPr/>
          <p:nvPr/>
        </p:nvSpPr>
        <p:spPr>
          <a:xfrm>
            <a:off x="11056776" y="6502322"/>
            <a:ext cx="1135224" cy="36389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604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998240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Feasibility Assessment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661475" y="1470521"/>
            <a:ext cx="10868745" cy="1879798"/>
          </a:xfrm>
          <a:prstGeom prst="roundRect">
            <a:avLst>
              <a:gd name="adj" fmla="val 296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1785938"/>
            <a:ext cx="10868745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2098179"/>
            <a:ext cx="10868745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2410420"/>
            <a:ext cx="10868745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2722662"/>
            <a:ext cx="10868745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3034903"/>
            <a:ext cx="10868745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924698" y="1470521"/>
            <a:ext cx="8306" cy="187979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0774" y="1539280"/>
            <a:ext cx="359748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0723" y="1539280"/>
            <a:ext cx="793988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774" y="1851521"/>
            <a:ext cx="359748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60723" y="1851521"/>
            <a:ext cx="793988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on 8GB RAM machine (consumer laptop tested)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0774" y="2163763"/>
            <a:ext cx="359748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0723" y="2163763"/>
            <a:ext cx="793988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Gemma 4 E2B = 5.1B params, Q4 quantized (~3GB)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774" y="2476004"/>
            <a:ext cx="359748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0723" y="2476004"/>
            <a:ext cx="793988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5-15s per LLM call, 2-hour supervisory interval = negligible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774" y="2788245"/>
            <a:ext cx="359748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0723" y="2788245"/>
            <a:ext cx="793988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Physics surrogate validated; EnergyPlus for production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0774" y="3100487"/>
            <a:ext cx="359748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0723" y="3100487"/>
            <a:ext cx="793988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protocol = standard interface for any BMS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1475" y="3490416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Mitigations</a:t>
            </a:r>
            <a:endParaRPr lang="en-US" sz="2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62698"/>
            <a:ext cx="5387642" cy="1128117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5526" y="4082256"/>
            <a:ext cx="159441" cy="15944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13375" y="4494212"/>
            <a:ext cx="508384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Hallucination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13375" y="4757837"/>
            <a:ext cx="508384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 validation + JSON parsing with retry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2479" y="3962698"/>
            <a:ext cx="5387741" cy="1128117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6530" y="4082256"/>
            <a:ext cx="159441" cy="15944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94379" y="4494212"/>
            <a:ext cx="508394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Latency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294379" y="4757837"/>
            <a:ext cx="508394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fallback + configurable timeout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184180"/>
            <a:ext cx="5387642" cy="1128117"/>
          </a:xfrm>
          <a:prstGeom prst="rect">
            <a:avLst/>
          </a:prstGeom>
        </p:spPr>
      </p:pic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5526" y="5303738"/>
            <a:ext cx="159441" cy="15944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13375" y="5715695"/>
            <a:ext cx="508384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Risk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13375" y="5979319"/>
            <a:ext cx="508384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4-Layer Safety (Bounds | Deadband | Ramp-rate | Dwell)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2479" y="5184180"/>
            <a:ext cx="5387741" cy="1128117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6530" y="5303738"/>
            <a:ext cx="159441" cy="15944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294379" y="5715695"/>
            <a:ext cx="508394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Building Integration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6294379" y="5979319"/>
            <a:ext cx="508394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Protocol + BACnet/Modbus gateway</a:t>
            </a:r>
            <a:endParaRPr lang="en-US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72A819-83C0-2C9F-BCE5-459AC4C05AA8}"/>
              </a:ext>
            </a:extLst>
          </p:cNvPr>
          <p:cNvSpPr/>
          <p:nvPr/>
        </p:nvSpPr>
        <p:spPr>
          <a:xfrm>
            <a:off x="11056776" y="6502322"/>
            <a:ext cx="1135224" cy="36389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937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Artifacts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046659"/>
            <a:ext cx="1086874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61475" y="1505545"/>
            <a:ext cx="10868745" cy="1487686"/>
          </a:xfrm>
          <a:prstGeom prst="roundRect">
            <a:avLst>
              <a:gd name="adj" fmla="val 366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5026" y="1505545"/>
            <a:ext cx="10881643" cy="1487686"/>
          </a:xfrm>
          <a:prstGeom prst="roundRect">
            <a:avLst>
              <a:gd name="adj" fmla="val 131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7443" y="1635423"/>
            <a:ext cx="10556809" cy="1227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honeywell_track1/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(Orchestrator)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 (settings.yaml, baseline_medium_office.idf)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agent/ (controller.py, safety.py, prompts.py, schemas.py)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simulation/ (demo_engine.py, eplus_bridge.py, shared_state.py, comfort.py)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mcp_server/ (server.py)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dashboard/ (app.py)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1475" y="3127177"/>
            <a:ext cx="1086874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Code Highlights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1475" y="3675360"/>
            <a:ext cx="348616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Decision (controller.py)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3978870"/>
            <a:ext cx="3486162" cy="1663105"/>
          </a:xfrm>
          <a:prstGeom prst="roundRect">
            <a:avLst>
              <a:gd name="adj" fmla="val 32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5026" y="3978870"/>
            <a:ext cx="3499060" cy="1663105"/>
          </a:xfrm>
          <a:prstGeom prst="roundRect">
            <a:avLst>
              <a:gd name="adj" fmla="val 117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7443" y="4108748"/>
            <a:ext cx="3174226" cy="140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completion(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model="ollama/gemma4:e2b",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messages=[...],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temperature=0.1,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max_tokens=256,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validated_args = HVACSetpointArgs.model_validate(parsed_json)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70883" y="3675360"/>
            <a:ext cx="337434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Interlock (safety.py)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70883" y="3978870"/>
            <a:ext cx="3374345" cy="1487686"/>
          </a:xfrm>
          <a:prstGeom prst="roundRect">
            <a:avLst>
              <a:gd name="adj" fmla="val 366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64434" y="3978870"/>
            <a:ext cx="3387243" cy="1487686"/>
          </a:xfrm>
          <a:prstGeom prst="roundRect">
            <a:avLst>
              <a:gd name="adj" fmla="val 131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26851" y="4108748"/>
            <a:ext cx="3062409" cy="1227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1: Absolute bounds (18-28°C cool, 12-22°C heat)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2: Minimum deadband (≥1.5°C between cool &amp; heat)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3: Ramp-rate limit (≤1.0°C/hour)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4: Minimum dwell time (30 min between changes)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68475" y="3675360"/>
            <a:ext cx="337434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Physics Surrogate (demo_engine.py)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68475" y="3978870"/>
            <a:ext cx="3374345" cy="961430"/>
          </a:xfrm>
          <a:prstGeom prst="roundRect">
            <a:avLst>
              <a:gd name="adj" fmla="val 56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62026" y="3978870"/>
            <a:ext cx="3387243" cy="961430"/>
          </a:xfrm>
          <a:prstGeom prst="roundRect">
            <a:avLst>
              <a:gd name="adj" fmla="val 20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24443" y="4108748"/>
            <a:ext cx="3062409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(cooling_sp + heating_sp) / 2.0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 = 0.08 * (outdoor_temp - zone_temp) + 0.03 * occupancy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zone_temp += 0.25 * (target - zone_temp) + 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475" y="5842992"/>
            <a:ext cx="10868745" cy="409972"/>
          </a:xfrm>
          <a:prstGeom prst="roundRect">
            <a:avLst>
              <a:gd name="adj" fmla="val 1331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49" y="6012259"/>
            <a:ext cx="162417" cy="12987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83640" y="5964734"/>
            <a:ext cx="10926291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Modular, production-ready codebase with comprehensive validation and safety mechanisms.</a:t>
            </a:r>
            <a:endParaRPr lang="en-US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F243B2-D69D-FB99-F9E9-D8088371820F}"/>
              </a:ext>
            </a:extLst>
          </p:cNvPr>
          <p:cNvSpPr/>
          <p:nvPr/>
        </p:nvSpPr>
        <p:spPr>
          <a:xfrm>
            <a:off x="11056776" y="6502322"/>
            <a:ext cx="1135224" cy="36389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490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and References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98415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Technologies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1390154"/>
            <a:ext cx="10868745" cy="1834356"/>
          </a:xfrm>
          <a:prstGeom prst="roundRect">
            <a:avLst>
              <a:gd name="adj" fmla="val 270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1654473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1915616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2176760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2437904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2699048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2960191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58968" y="1390154"/>
            <a:ext cx="7384" cy="18343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5991" y="1447105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210" y="1447105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5991" y="1708249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EnergyPlus (DOE)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210" y="1708249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https://energyplus.net/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5991" y="1969393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Gemma 4 E2B (Google)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210" y="1969393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https://ai.google.dev/gemma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5991" y="2230537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 (Local LLM)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210" y="2230537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https://ollama.com/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5991" y="2491680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210" y="2491680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https://modelcontextprotocol.io/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5991" y="2752824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LiteLLM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210" y="2752824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https://github.com/BerriAI/litellm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5991" y="3013968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210" y="3013968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https://streamlit.io/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1475" y="333523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Papers &amp; Standards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661475" y="3741241"/>
            <a:ext cx="10868745" cy="2095500"/>
          </a:xfrm>
          <a:prstGeom prst="roundRect">
            <a:avLst>
              <a:gd name="adj" fmla="val 236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61475" y="4005560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61475" y="4266704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61475" y="4527848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61475" y="4788991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61475" y="5050135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61475" y="5311279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61475" y="5572423"/>
            <a:ext cx="10868745" cy="73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358968" y="3741241"/>
            <a:ext cx="7384" cy="20955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85991" y="3798193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80210" y="3798193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5991" y="4059337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Energy Consumption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210" y="4059337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IEA Global Status Report 2024 — Buildings account for 40% of global energy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5991" y="4320480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PMV Comfort Model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210" y="4320480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7730:2005 — Fanger's Predicted Mean Vote thermal comfort model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5991" y="4581624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EnergyPlus Validation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210" y="4581624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 EnergyPlus Engineering Reference v24.2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5991" y="4842768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for Control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80210" y="4842768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"Language Models as Controllers" — emerging research on LLM-driven process optimization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5991" y="5103912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Specification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80210" y="5103912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MCP Spec v1.0 — standardized agent-tool communication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5991" y="5365055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ASHRAE 90.1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80210" y="5365055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ASHRAE Standard 90.1-2022 — Energy Standard for Buildings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5991" y="5626199"/>
            <a:ext cx="40613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Response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480210" y="5626199"/>
            <a:ext cx="753517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OpenADR 2.0 — Automated Demand Response standard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1475" y="5919787"/>
            <a:ext cx="10868745" cy="352723"/>
          </a:xfrm>
          <a:prstGeom prst="roundRect">
            <a:avLst>
              <a:gd name="adj" fmla="val 140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42" y="6071890"/>
            <a:ext cx="147634" cy="11807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045243" y="6023074"/>
            <a:ext cx="109764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BMS = static rules → Eco-Loop = reasoning agent that weighs cost, carbon, and comfort in real-time using an open-source LLM, with physics-grounded safety guarantees.</a:t>
            </a:r>
            <a:endParaRPr lang="en-US" sz="9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2F4113B-E342-3292-9780-07C7BEC59DC4}"/>
              </a:ext>
            </a:extLst>
          </p:cNvPr>
          <p:cNvSpPr/>
          <p:nvPr/>
        </p:nvSpPr>
        <p:spPr>
          <a:xfrm>
            <a:off x="11056776" y="6502322"/>
            <a:ext cx="1135224" cy="36389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896</Words>
  <Application>Microsoft Office PowerPoint</Application>
  <PresentationFormat>Widescreen</PresentationFormat>
  <Paragraphs>156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Consolas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Aakarshak Swaraj</cp:lastModifiedBy>
  <cp:revision>3</cp:revision>
  <dcterms:created xsi:type="dcterms:W3CDTF">2026-07-26T16:28:57Z</dcterms:created>
  <dcterms:modified xsi:type="dcterms:W3CDTF">2026-07-26T17:05:16Z</dcterms:modified>
</cp:coreProperties>
</file>